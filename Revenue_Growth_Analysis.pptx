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B981"/>
    <a:srgbClr val="0D9488"/>
    <a:srgbClr val="64748B"/>
    <a:srgbClr val="6474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25400" cap="flat" cmpd="sng" algn="ctr">
              <a:solidFill>
                <a:schemeClr val="accent1"/>
              </a:solidFill>
              <a:miter lim="800000"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ln w="25400" cap="flat" cmpd="sng" algn="ctr">
                <a:solidFill>
                  <a:schemeClr val="accent1"/>
                </a:solidFill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A-4D6E-A60B-7642A73791DA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ln w="25400" cap="flat" cmpd="sng" algn="ctr">
                <a:solidFill>
                  <a:schemeClr val="accent1"/>
                </a:solidFill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A-4D6E-A60B-7642A73791DA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ln w="25400" cap="flat" cmpd="sng" algn="ctr">
                <a:solidFill>
                  <a:schemeClr val="accent1"/>
                </a:solidFill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360A-4D6E-A60B-7642A73791DA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ln w="25400" cap="flat" cmpd="sng" algn="ctr">
                <a:solidFill>
                  <a:schemeClr val="accent1"/>
                </a:solidFill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7-360A-4D6E-A60B-7642A73791DA}"/>
              </c:ext>
            </c:extLst>
          </c:dPt>
          <c:cat>
            <c:strRef>
              <c:f>Sheet1!$A$2:$A$5</c:f>
              <c:strCache>
                <c:ptCount val="4"/>
                <c:pt idx="0">
                  <c:v>Current Baseline</c:v>
                </c:pt>
                <c:pt idx="1">
                  <c:v>L1: Activate Low Machines</c:v>
                </c:pt>
                <c:pt idx="2">
                  <c:v>L3: Digital Payment</c:v>
                </c:pt>
                <c:pt idx="3">
                  <c:v>Total Potential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1137</c:v>
                </c:pt>
                <c:pt idx="1">
                  <c:v>186</c:v>
                </c:pt>
                <c:pt idx="2">
                  <c:v>0.8</c:v>
                </c:pt>
                <c:pt idx="3">
                  <c:v>1324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A-4D6E-A60B-7642A73791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35"/>
        <c:axId val="461685976"/>
        <c:axId val="461686304"/>
      </c:barChart>
      <c:catAx>
        <c:axId val="461685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1686304"/>
        <c:crosses val="autoZero"/>
        <c:auto val="1"/>
        <c:lblAlgn val="ctr"/>
        <c:lblOffset val="100"/>
        <c:noMultiLvlLbl val="0"/>
      </c:catAx>
      <c:valAx>
        <c:axId val="461686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1685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1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35000"/>
          <a:lumOff val="65000"/>
        </a:schemeClr>
      </a:solidFill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/>
    <cs:fontRef idx="minor">
      <a:schemeClr val="dk1"/>
    </cs:fontRef>
    <cs:spPr>
      <a:noFill/>
      <a:ln w="25400" cap="flat" cmpd="sng" algn="ctr">
        <a:solidFill>
          <a:schemeClr val="phClr"/>
        </a:solidFill>
        <a:miter lim="800000"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flat" cmpd="sng" algn="ctr">
        <a:solidFill>
          <a:schemeClr val="phClr"/>
        </a:solidFill>
        <a:miter lim="800000"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1"/>
    <cs:effectRef idx="0"/>
    <cs:fontRef idx="minor">
      <a:schemeClr val="tx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243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95" y="16002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24231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943600" y="1463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INCREASE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92024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Vending Machine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0" y="36118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Lever 1 &amp; 3 — Activating Underperforming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&amp; Fixing Digital Payment Bottlenecks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4663440"/>
            <a:ext cx="5669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4800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March – May 2020  |  TP.HCM Operations  |  177 Machines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9047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1,137M VND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2496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+44.4%  May MoM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9047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115,68K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337560" y="2496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337560" y="2788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1,285/</a:t>
            </a: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49047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9,829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6172200" y="2496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/ Txn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3258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149047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06840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36.8%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9006840" y="2496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Rate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1480" y="3520440"/>
            <a:ext cx="11338560" cy="2971800"/>
          </a:xfrm>
          <a:prstGeom prst="roundRect">
            <a:avLst>
              <a:gd name="adj" fmla="val 3692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9436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Logic Tree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40080" y="416052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0D948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85800" y="41696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1,137M VND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017520" y="384048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1D4ED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3063240" y="38496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Transactions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115,679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017520" y="452628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7C3AED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3063240" y="45354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 / Txn</a:t>
            </a:r>
            <a:endParaRPr lang="en-US" sz="950" dirty="0"/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9829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394960" y="352044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1D4ED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5440680" y="35295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Machines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394960" y="416052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1D4ED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5440680" y="41696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/ Machine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(3mo)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5394960" y="480060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7C3AED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5440680" y="48097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(SKU variety)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772400" y="3520440"/>
            <a:ext cx="1920240" cy="566928"/>
          </a:xfrm>
          <a:prstGeom prst="roundRect">
            <a:avLst>
              <a:gd name="adj" fmla="val 11290"/>
            </a:avLst>
          </a:prstGeom>
          <a:solidFill>
            <a:srgbClr val="059669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7818120" y="35295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type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geography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772400" y="4160520"/>
            <a:ext cx="1920240" cy="566928"/>
          </a:xfrm>
          <a:prstGeom prst="roundRect">
            <a:avLst>
              <a:gd name="adj" fmla="val 11290"/>
            </a:avLst>
          </a:prstGeom>
          <a:solidFill>
            <a:srgbClr val="B45309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7818120" y="41696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7772400" y="4800600"/>
            <a:ext cx="1920240" cy="566928"/>
          </a:xfrm>
          <a:prstGeom prst="roundRect">
            <a:avLst>
              <a:gd name="adj" fmla="val 11290"/>
            </a:avLst>
          </a:prstGeom>
          <a:solidFill>
            <a:srgbClr val="7C3AED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7818120" y="48097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Medium/Big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5413248" y="408736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1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7790688" y="408736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 1 — Activate Underperforming Machines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machines running below 50% median  →  only 4.3% of revenue  →  potential </a:t>
            </a: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406640" y="123444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0" y="12984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498080" y="1874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below 50% median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198 txn / 3 months)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06640" y="274320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0" y="28072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+186M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498080" y="33832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 </a:t>
            </a: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uplift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06640" y="425196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98080" y="43159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</a:t>
            </a: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52.1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498080" y="48920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unique SKUs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vs Top performers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4956048"/>
            <a:ext cx="11201400" cy="1572768"/>
          </a:xfrm>
          <a:prstGeom prst="roundRect">
            <a:avLst>
              <a:gd name="adj" fmla="val 5814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6636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50749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performers average </a:t>
            </a: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8.5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 vs 52.1 for top machines. Fewer product options = fewer reasons to buy = lower transaction volume. The fix is operational, not locational: replenish and diversify SKUs before considering machine relocation.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A5D811-70C2-4B4C-89AD-64C799A59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34440"/>
            <a:ext cx="6812280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Groups — Three Different Fixes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by location type reveals distinct root causes for each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703320" cy="5349240"/>
          </a:xfrm>
          <a:prstGeom prst="roundRect">
            <a:avLst>
              <a:gd name="adj" fmla="val 2963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35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— Schools (18 machines)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3429000" cy="301752"/>
          </a:xfrm>
          <a:prstGeom prst="roundRect">
            <a:avLst>
              <a:gd name="adj" fmla="val 15152"/>
            </a:avLst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84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txn: 51/3 months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3429000" cy="301752"/>
          </a:xfrm>
          <a:prstGeom prst="roundRect">
            <a:avLst>
              <a:gd name="adj" fmla="val 15152"/>
            </a:avLst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SKUs: 10.4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660904"/>
            <a:ext cx="3429000" cy="301752"/>
          </a:xfrm>
          <a:prstGeom prst="roundRect">
            <a:avLst>
              <a:gd name="adj" fmla="val 15152"/>
            </a:avLst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679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price/txn: 9,513 VND  (-4% vs avg)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044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30098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transaction volume AND below-average ticket size. Product mix not suited to student needs — students prefer affordable snacks and drinks under 8,000 VND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42336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45079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5–10 low-price snack SKUs (&lt; 8,000 VND) to all 18 machines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510235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afternoon restock (peak: 13h–16h for schools)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56967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0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>
                <a:solidFill>
                  <a:schemeClr val="bg1"/>
                </a:solidFill>
              </a:rPr>
              <a:t>Target: raise school low segment machines to median (397 txn)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398264" y="1234440"/>
            <a:ext cx="3703320" cy="5349240"/>
          </a:xfrm>
          <a:prstGeom prst="roundRect">
            <a:avLst>
              <a:gd name="adj" fmla="val 2963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41732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84064" y="1435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</a:t>
            </a:r>
            <a:r>
              <a:rPr lang="en-US" sz="11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Familymart </a:t>
            </a: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machines)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35424" y="1965960"/>
            <a:ext cx="3429000" cy="301752"/>
          </a:xfrm>
          <a:prstGeom prst="roundRect">
            <a:avLst>
              <a:gd name="adj" fmla="val 15152"/>
            </a:avLst>
          </a:prstGeom>
          <a:solidFill>
            <a:srgbClr val="1E3A5F"/>
          </a:solidFill>
          <a:ln/>
        </p:spPr>
      </p:sp>
      <p:sp>
        <p:nvSpPr>
          <p:cNvPr id="23" name="Text 19"/>
          <p:cNvSpPr/>
          <p:nvPr/>
        </p:nvSpPr>
        <p:spPr>
          <a:xfrm>
            <a:off x="4626864" y="1984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txn</a:t>
            </a:r>
            <a:r>
              <a:rPr lang="en-US" sz="10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58/3 </a:t>
            </a: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35424" y="2313432"/>
            <a:ext cx="3429000" cy="301752"/>
          </a:xfrm>
          <a:prstGeom prst="roundRect">
            <a:avLst>
              <a:gd name="adj" fmla="val 15152"/>
            </a:avLst>
          </a:prstGeom>
          <a:solidFill>
            <a:srgbClr val="1E3A5F"/>
          </a:solidFill>
          <a:ln/>
        </p:spPr>
      </p:sp>
      <p:sp>
        <p:nvSpPr>
          <p:cNvPr id="25" name="Text 21"/>
          <p:cNvSpPr/>
          <p:nvPr/>
        </p:nvSpPr>
        <p:spPr>
          <a:xfrm>
            <a:off x="4626864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SKUs</a:t>
            </a:r>
            <a:r>
              <a:rPr lang="en-US" sz="10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8.7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35424" y="2660904"/>
            <a:ext cx="3429000" cy="301752"/>
          </a:xfrm>
          <a:prstGeom prst="roundRect">
            <a:avLst>
              <a:gd name="adj" fmla="val 15152"/>
            </a:avLst>
          </a:prstGeom>
          <a:solidFill>
            <a:srgbClr val="1E3A5F"/>
          </a:solidFill>
          <a:ln/>
        </p:spPr>
      </p:sp>
      <p:sp>
        <p:nvSpPr>
          <p:cNvPr id="27" name="Text 23"/>
          <p:cNvSpPr/>
          <p:nvPr/>
        </p:nvSpPr>
        <p:spPr>
          <a:xfrm>
            <a:off x="4626864" y="2679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in Quan 1 (highest competition)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535424" y="3044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535424" y="330098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Familymart already sells beverages — direct overlap. These machines face structural competition, not a product gap.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535424" y="42336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535424" y="45079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audit: measure foot traffic at each machine for 2 weeks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535424" y="510235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traffic &lt; 30 people/day → prepare relocation plan to KCN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535424" y="56967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traffic adequate → differentiate with exclusive SKUs (not sold in Familymart)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293608" y="1234440"/>
            <a:ext cx="3703320" cy="5349240"/>
          </a:xfrm>
          <a:prstGeom prst="roundRect">
            <a:avLst>
              <a:gd name="adj" fmla="val 2963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417320"/>
            <a:ext cx="411480" cy="41148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979408" y="1435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— Go </a:t>
            </a:r>
            <a:r>
              <a:rPr lang="en-US" sz="11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 (</a:t>
            </a: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machines)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8430768" y="1965960"/>
            <a:ext cx="3429000" cy="301752"/>
          </a:xfrm>
          <a:prstGeom prst="roundRect">
            <a:avLst>
              <a:gd name="adj" fmla="val 15152"/>
            </a:avLst>
          </a:prstGeom>
          <a:solidFill>
            <a:srgbClr val="1E3A5F"/>
          </a:solidFill>
          <a:ln/>
        </p:spPr>
      </p:sp>
      <p:sp>
        <p:nvSpPr>
          <p:cNvPr id="38" name="Text 33"/>
          <p:cNvSpPr/>
          <p:nvPr/>
        </p:nvSpPr>
        <p:spPr>
          <a:xfrm>
            <a:off x="8522208" y="1984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txn</a:t>
            </a:r>
            <a:r>
              <a:rPr lang="en-US" sz="10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17/3 </a:t>
            </a: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 ← critically low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430768" y="2313432"/>
            <a:ext cx="3429000" cy="301752"/>
          </a:xfrm>
          <a:prstGeom prst="roundRect">
            <a:avLst>
              <a:gd name="adj" fmla="val 15152"/>
            </a:avLst>
          </a:prstGeom>
          <a:solidFill>
            <a:srgbClr val="1E3A5F"/>
          </a:solidFill>
          <a:ln/>
        </p:spPr>
      </p:sp>
      <p:sp>
        <p:nvSpPr>
          <p:cNvPr id="40" name="Text 35"/>
          <p:cNvSpPr/>
          <p:nvPr/>
        </p:nvSpPr>
        <p:spPr>
          <a:xfrm>
            <a:off x="8522208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machines</a:t>
            </a:r>
            <a:r>
              <a:rPr lang="en-US" sz="10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 </a:t>
            </a: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 only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8430768" y="2660904"/>
            <a:ext cx="3429000" cy="301752"/>
          </a:xfrm>
          <a:prstGeom prst="roundRect">
            <a:avLst>
              <a:gd name="adj" fmla="val 15152"/>
            </a:avLst>
          </a:prstGeom>
          <a:solidFill>
            <a:srgbClr val="1E3A5F"/>
          </a:solidFill>
          <a:ln/>
        </p:spPr>
      </p:sp>
      <p:sp>
        <p:nvSpPr>
          <p:cNvPr id="42" name="Text 37"/>
          <p:cNvSpPr/>
          <p:nvPr/>
        </p:nvSpPr>
        <p:spPr>
          <a:xfrm>
            <a:off x="8522208" y="2679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r>
              <a:rPr lang="en-US" sz="10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700K </a:t>
            </a: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 / 3 months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8430768" y="3044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8430768" y="330098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stocked = machine effectively empty. This is a stock-out / misconfiguration issue, not a location problem.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8430768" y="42336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8430768" y="45079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physical inspection within 48 hours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8430768" y="510235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and configure with minimum 15 SKUs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8430768" y="56967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stock normal → investigate machine malfunction / QR display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 3 — Fix the Digital Payment Bottleneck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transactions 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5.5%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ticket value — but 63% of sales are still cash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635240" y="1234440"/>
            <a:ext cx="4069080" cy="1389888"/>
          </a:xfrm>
          <a:prstGeom prst="roundRect">
            <a:avLst>
              <a:gd name="adj" fmla="val 6579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2984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Binh Tan digital rate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1600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72400" y="207568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— yet highest rev/machine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35240" y="2700098"/>
            <a:ext cx="4069080" cy="1389888"/>
          </a:xfrm>
          <a:prstGeom prst="roundRect">
            <a:avLst>
              <a:gd name="adj" fmla="val 6579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2834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ticket premium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31363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+5.5%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77240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10,261 vs 9,701 VND avg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635240" y="4165790"/>
            <a:ext cx="4069080" cy="768096"/>
          </a:xfrm>
          <a:prstGeom prst="roundRect">
            <a:avLst>
              <a:gd name="adj" fmla="val 6579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0" y="418706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uplift (Binh Tan)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0" y="443096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~832K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772400" y="51480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 if raised to 40%+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5230368"/>
            <a:ext cx="11201400" cy="1325880"/>
          </a:xfrm>
          <a:prstGeom prst="roundRect">
            <a:avLst>
              <a:gd name="adj" fmla="val 6173"/>
            </a:avLst>
          </a:prstGeom>
          <a:solidFill>
            <a:srgbClr val="1C3347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54456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34440" y="512064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Binh Tan has the highest revenue/machine (20.2M VND/month) but the lowest digital </a:t>
            </a: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(9.5%).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infrastructure problem — not a customer preference. A QR/POS audit of the 3 Binh Tan machines is the single fastest action to unlock higher ticket values.</a:t>
            </a:r>
            <a:endParaRPr lang="en-US" sz="12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B1C8FB3-C6C8-4736-A320-03A8AEC59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52728"/>
            <a:ext cx="7010400" cy="37377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 &amp; Expected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by effort vs revenue uplift — Lever 1 and 3 only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532120" cy="2468880"/>
          </a:xfrm>
          <a:prstGeom prst="roundRect">
            <a:avLst>
              <a:gd name="adj" fmla="val 4444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41732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417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444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61288" y="1847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&amp; restock 4 Go Vap machines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230428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audit within 48h. Minimum 15 SKUs per machine. Resolve stock-out / misconfiguration.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" y="3154680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0D3D2E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172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uplift</a:t>
            </a: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~700K → ~15.7M VND (+15M uplift)</a:t>
            </a:r>
            <a:endParaRPr lang="en-US" sz="1100" b="1" dirty="0">
              <a:solidFill>
                <a:srgbClr val="10B98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336792" y="1280160"/>
            <a:ext cx="5532120" cy="2468880"/>
          </a:xfrm>
          <a:prstGeom prst="roundRect">
            <a:avLst>
              <a:gd name="adj" fmla="val 4444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73952" y="141732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6473952" y="1417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79792" y="141732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7479792" y="1417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68512" y="1444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87452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95160" y="1847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QR/POS audit — 3 Binh Tan machines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519672" y="230428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payment methods. Replace/repair broken terminals. Target digital rate: 40%+.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19672" y="3154680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0D3D2E"/>
          </a:solidFill>
          <a:ln/>
        </p:spPr>
      </p:sp>
      <p:sp>
        <p:nvSpPr>
          <p:cNvPr id="25" name="Text 21"/>
          <p:cNvSpPr/>
          <p:nvPr/>
        </p:nvSpPr>
        <p:spPr>
          <a:xfrm>
            <a:off x="6611112" y="3172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uplift</a:t>
            </a: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+832K </a:t>
            </a: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 ticket premium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02920" y="3977640"/>
            <a:ext cx="5532120" cy="2468880"/>
          </a:xfrm>
          <a:prstGeom prst="roundRect">
            <a:avLst>
              <a:gd name="adj" fmla="val 4444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0080" y="411480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28" name="Text 24"/>
          <p:cNvSpPr/>
          <p:nvPr/>
        </p:nvSpPr>
        <p:spPr>
          <a:xfrm>
            <a:off x="640080" y="4114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1645920" y="411480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30" name="Text 26"/>
          <p:cNvSpPr/>
          <p:nvPr/>
        </p:nvSpPr>
        <p:spPr>
          <a:xfrm>
            <a:off x="1645920" y="4114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1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2834640" y="4142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72000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161288" y="4544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snack SKUs to 18 school machines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685800" y="500176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affordable snack/drink SKUs (&lt; 8,000 VND). Afternoon restock schedule. Measure txn lift after 4 weeks.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85800" y="5852160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0D3D2E"/>
          </a:solidFill>
          <a:ln/>
        </p:spPr>
      </p:sp>
      <p:sp>
        <p:nvSpPr>
          <p:cNvPr id="36" name="Text 31"/>
          <p:cNvSpPr/>
          <p:nvPr/>
        </p:nvSpPr>
        <p:spPr>
          <a:xfrm>
            <a:off x="777240" y="58704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uplift</a:t>
            </a: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~8.7M → ~67.9M VND (+59M uplift)</a:t>
            </a:r>
            <a:endParaRPr lang="en-US" sz="1100" b="1" dirty="0">
              <a:solidFill>
                <a:srgbClr val="10B98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6336792" y="3977640"/>
            <a:ext cx="5532120" cy="2468880"/>
          </a:xfrm>
          <a:prstGeom prst="roundRect">
            <a:avLst>
              <a:gd name="adj" fmla="val 4444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473952" y="411480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9" name="Text 34"/>
          <p:cNvSpPr/>
          <p:nvPr/>
        </p:nvSpPr>
        <p:spPr>
          <a:xfrm>
            <a:off x="6473952" y="4114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7479792" y="411480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41" name="Text 36"/>
          <p:cNvSpPr/>
          <p:nvPr/>
        </p:nvSpPr>
        <p:spPr>
          <a:xfrm>
            <a:off x="7479792" y="4114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1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8668512" y="4142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4572000"/>
            <a:ext cx="365760" cy="36576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995160" y="4544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audit — 15 Familymart Q1 machines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6519672" y="500176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foot traffic count. If &lt; 30 people/day → prepare relocation proposal to KCN/Ben Tau sites.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6519672" y="5852160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0D3D2E"/>
          </a:solidFill>
          <a:ln/>
        </p:spPr>
      </p:sp>
      <p:sp>
        <p:nvSpPr>
          <p:cNvPr id="47" name="Text 41"/>
          <p:cNvSpPr/>
          <p:nvPr/>
        </p:nvSpPr>
        <p:spPr>
          <a:xfrm>
            <a:off x="6611112" y="58704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uplift</a:t>
            </a: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Potential: up to +17x rev/machine if relocated to KCN (pending traffic audit)</a:t>
            </a:r>
            <a:endParaRPr lang="en-US" sz="1100" b="1" dirty="0">
              <a:solidFill>
                <a:srgbClr val="10B98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Lever 1 + 3 potential vs current baseline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503920" y="123444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41080" y="1298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current revenue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41080" y="15361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1,137M VND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503920" y="210312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41080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1 — machine fix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41080" y="24048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+186M </a:t>
            </a: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503920" y="2990088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1F2937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41080" y="30540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3 — digital fix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41080" y="32918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+832K </a:t>
            </a: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503920" y="3858768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0D3D2E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641080" y="39227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potential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641080" y="4160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1,324M </a:t>
            </a: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503920" y="4727448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0D3D2E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41080" y="47914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641080" y="50292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2920" y="5532119"/>
            <a:ext cx="7772400" cy="449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r>
              <a:rPr lang="en-US" sz="10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L1 uplift assumes all 58 low machines reach system median (397 txn). L3 uplift based on Binh Tan reaching average district digital rate (36.8%). Estimates based on 3-month data — validate after 4-week pilot.</a:t>
            </a:r>
            <a:endParaRPr lang="en-US" sz="1050" i="1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94AB5789-86C5-4FD4-9BE7-FD1A00944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2662961"/>
              </p:ext>
            </p:extLst>
          </p:nvPr>
        </p:nvGraphicFramePr>
        <p:xfrm>
          <a:off x="502921" y="1325879"/>
          <a:ext cx="7178040" cy="3913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921</Words>
  <Application>Microsoft Office PowerPoint</Application>
  <PresentationFormat>Widescreen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MienNam Group</cp:lastModifiedBy>
  <cp:revision>14</cp:revision>
  <dcterms:created xsi:type="dcterms:W3CDTF">2026-07-03T02:19:53Z</dcterms:created>
  <dcterms:modified xsi:type="dcterms:W3CDTF">2026-07-20T02:54:30Z</dcterms:modified>
</cp:coreProperties>
</file>